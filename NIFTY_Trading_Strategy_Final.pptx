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NIFTY 50 Quantitative Trading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007ACC"/>
                </a:solidFill>
              </a:defRPr>
            </a:pPr>
            <a:r>
              <a:t>HMM Regime Detection • ML Signal Filtering • Sequential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C8C8C8"/>
                </a:solidFill>
              </a:defRPr>
            </a:pPr>
            <a:r>
              <a:t>Kartik Mendiratta | January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0" y="2560320"/>
            <a:ext cx="3047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2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Project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3C3C3C"/>
                </a:solidFill>
              </a:defRPr>
            </a:pPr>
            <a:r>
              <a:t>▸ End-to-end quantitative trading pipeline for NIFTY 50 derivatives</a:t>
            </a:r>
          </a:p>
          <a:p>
            <a:pPr>
              <a:spcAft>
                <a:spcPts val="1400"/>
              </a:spcAft>
              <a:defRPr sz="1800">
                <a:solidFill>
                  <a:srgbClr val="3C3C3C"/>
                </a:solidFill>
              </a:defRPr>
            </a:pPr>
            <a:r>
              <a:t>▸ Sequential Filtering: Data → Features → Regime → Signals → ML Filter → Execution</a:t>
            </a:r>
          </a:p>
          <a:p>
            <a:pPr>
              <a:spcAft>
                <a:spcPts val="1400"/>
              </a:spcAft>
              <a:defRPr sz="1800">
                <a:solidFill>
                  <a:srgbClr val="3C3C3C"/>
                </a:solidFill>
              </a:defRPr>
            </a:pPr>
            <a:r>
              <a:t>▸ Hidden Markov Model (HMM) for 3-state market regime detection</a:t>
            </a:r>
          </a:p>
          <a:p>
            <a:pPr>
              <a:spcAft>
                <a:spcPts val="1400"/>
              </a:spcAft>
              <a:defRPr sz="1800">
                <a:solidFill>
                  <a:srgbClr val="3C3C3C"/>
                </a:solidFill>
              </a:defRPr>
            </a:pPr>
            <a:r>
              <a:t>▸ Dual ML filters: XGBoost (tree-based) and LSTM (deep learning)</a:t>
            </a:r>
          </a:p>
          <a:p>
            <a:pPr>
              <a:spcAft>
                <a:spcPts val="1400"/>
              </a:spcAft>
              <a:defRPr sz="1800">
                <a:solidFill>
                  <a:srgbClr val="3C3C3C"/>
                </a:solidFill>
              </a:defRPr>
            </a:pPr>
            <a:r>
              <a:t>▸ LSTM achieves 44.4% win rate vs 29.3% baseline (+15.2 pp)</a:t>
            </a:r>
          </a:p>
          <a:p>
            <a:pPr>
              <a:spcAft>
                <a:spcPts val="1400"/>
              </a:spcAft>
              <a:defRPr sz="1800">
                <a:solidFill>
                  <a:srgbClr val="3C3C3C"/>
                </a:solidFill>
              </a:defRPr>
            </a:pPr>
            <a:r>
              <a:t>▸ Profit Factor improved from 0.90 (baseline) to 1.85 (LSTM)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0" y="2560320"/>
            <a:ext cx="3047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Data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2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Data Sources &amp; 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C3C3C"/>
                </a:solidFill>
              </a:defRPr>
            </a:pPr>
            <a:r>
              <a:t>▸ NIFTY 50 Spot: 5-minute OHLCV bars (~19,500 records)</a:t>
            </a:r>
          </a:p>
          <a:p>
            <a:pPr>
              <a:spcAft>
                <a:spcPts val="1000"/>
              </a:spcAft>
              <a:defRPr sz="1600">
                <a:solidFill>
                  <a:srgbClr val="3C3C3C"/>
                </a:solidFill>
              </a:defRPr>
            </a:pPr>
            <a:r>
              <a:t>▸ NIFTY Futures: Current month contract with rollover handling</a:t>
            </a:r>
          </a:p>
          <a:p>
            <a:pPr>
              <a:spcAft>
                <a:spcPts val="1000"/>
              </a:spcAft>
              <a:defRPr sz="1600">
                <a:solidFill>
                  <a:srgbClr val="3C3C3C"/>
                </a:solidFill>
              </a:defRPr>
            </a:pPr>
            <a:r>
              <a:t>▸ NIFTY Options: ATM ± 2 strikes for Calls &amp; Puts</a:t>
            </a:r>
          </a:p>
          <a:p>
            <a:pPr>
              <a:spcAft>
                <a:spcPts val="1000"/>
              </a:spcAft>
              <a:defRPr sz="1600">
                <a:solidFill>
                  <a:srgbClr val="3C3C3C"/>
                </a:solidFill>
              </a:defRPr>
            </a:pPr>
            <a:r>
              <a:t>▸ Features: 70+ engineered including Greeks, IV, PCR, momentum</a:t>
            </a:r>
          </a:p>
          <a:p>
            <a:pPr>
              <a:spcAft>
                <a:spcPts val="1000"/>
              </a:spcAft>
              <a:defRPr sz="1600">
                <a:solidFill>
                  <a:srgbClr val="3C3C3C"/>
                </a:solidFill>
              </a:defRPr>
            </a:pPr>
            <a:r>
              <a:t>▸ Train/Test Split: 70% / 30% with no lookahead bias</a:t>
            </a:r>
          </a:p>
          <a:p>
            <a:pPr>
              <a:spcAft>
                <a:spcPts val="1000"/>
              </a:spcAft>
              <a:defRPr sz="1600">
                <a:solidFill>
                  <a:srgbClr val="3C3C3C"/>
                </a:solidFill>
              </a:defRPr>
            </a:pPr>
            <a:r>
              <a:t>▸ Data quality: Aligned timestamps, forward-filled gaps</a:t>
            </a:r>
          </a:p>
        </p:txBody>
      </p:sp>
      <p:pic>
        <p:nvPicPr>
          <p:cNvPr id="5" name="Picture 4" descr="01_data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371600"/>
            <a:ext cx="5760720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2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Feature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C3C3C"/>
                </a:solidFill>
              </a:defRPr>
            </a:pPr>
            <a:r>
              <a:t>▸ Technical: EMA(5), EMA(15), RSI, ATR, Momentum</a:t>
            </a:r>
          </a:p>
          <a:p>
            <a:pPr>
              <a:spcAft>
                <a:spcPts val="1000"/>
              </a:spcAft>
              <a:defRPr sz="1600">
                <a:solidFill>
                  <a:srgbClr val="3C3C3C"/>
                </a:solidFill>
              </a:defRPr>
            </a:pPr>
            <a:r>
              <a:t>▸ Greeks: Delta, Gamma, Theta, Vega, Rho (Black-Scholes, r=6.5%)</a:t>
            </a:r>
          </a:p>
          <a:p>
            <a:pPr>
              <a:spcAft>
                <a:spcPts val="1000"/>
              </a:spcAft>
              <a:defRPr sz="1600">
                <a:solidFill>
                  <a:srgbClr val="3C3C3C"/>
                </a:solidFill>
              </a:defRPr>
            </a:pPr>
            <a:r>
              <a:t>▸ Options: Average IV, IV Spread, PCR (OI &amp; Volume)</a:t>
            </a:r>
          </a:p>
          <a:p>
            <a:pPr>
              <a:spcAft>
                <a:spcPts val="1000"/>
              </a:spcAft>
              <a:defRPr sz="1600">
                <a:solidFill>
                  <a:srgbClr val="3C3C3C"/>
                </a:solidFill>
              </a:defRPr>
            </a:pPr>
            <a:r>
              <a:t>▸ Derived: Futures Basis, Gamma Exposure, Net Delta</a:t>
            </a:r>
          </a:p>
          <a:p>
            <a:pPr>
              <a:spcAft>
                <a:spcPts val="1000"/>
              </a:spcAft>
              <a:defRPr sz="1600">
                <a:solidFill>
                  <a:srgbClr val="3C3C3C"/>
                </a:solidFill>
              </a:defRPr>
            </a:pPr>
            <a:r>
              <a:t>▸ Stationary: Log returns, Distance from EMA (percentage)</a:t>
            </a:r>
          </a:p>
          <a:p>
            <a:pPr>
              <a:spcAft>
                <a:spcPts val="1000"/>
              </a:spcAft>
              <a:defRPr sz="1600">
                <a:solidFill>
                  <a:srgbClr val="3C3C3C"/>
                </a:solidFill>
              </a:defRPr>
            </a:pPr>
            <a:r>
              <a:t>▸ Temporal: Hour, Day of week, Market session indicators</a:t>
            </a:r>
          </a:p>
        </p:txBody>
      </p:sp>
      <p:pic>
        <p:nvPicPr>
          <p:cNvPr id="5" name="Picture 4" descr="03_feature_enginee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371600"/>
            <a:ext cx="5760720" cy="409387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0" y="2560320"/>
            <a:ext cx="3047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Regime Detection (HMM)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2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Hidden Markov Model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C3C3C"/>
                </a:solidFill>
              </a:defRPr>
            </a:pPr>
            <a:r>
              <a:t>▸ 3-State Model: Uptrend (+1), Sideways (0), Downtrend (-1)</a:t>
            </a:r>
          </a:p>
          <a:p>
            <a:pPr>
              <a:spcAft>
                <a:spcPts val="1000"/>
              </a:spcAft>
              <a:defRPr sz="1600">
                <a:solidFill>
                  <a:srgbClr val="3C3C3C"/>
                </a:solidFill>
              </a:defRPr>
            </a:pPr>
            <a:r>
              <a:t>▸ Library: hmmlearn with GaussianHMM</a:t>
            </a:r>
          </a:p>
          <a:p>
            <a:pPr>
              <a:spcAft>
                <a:spcPts val="1000"/>
              </a:spcAft>
              <a:defRPr sz="1600">
                <a:solidFill>
                  <a:srgbClr val="3C3C3C"/>
                </a:solidFill>
              </a:defRPr>
            </a:pPr>
            <a:r>
              <a:t>▸ Input features: IV, PCR, Greeks, Futures Basis, Returns</a:t>
            </a:r>
          </a:p>
          <a:p>
            <a:pPr>
              <a:spcAft>
                <a:spcPts val="1000"/>
              </a:spcAft>
              <a:defRPr sz="1600">
                <a:solidFill>
                  <a:srgbClr val="3C3C3C"/>
                </a:solidFill>
              </a:defRPr>
            </a:pPr>
            <a:r>
              <a:t>▸ High persistence: &gt;99% self-transition probability</a:t>
            </a:r>
          </a:p>
          <a:p>
            <a:pPr>
              <a:spcAft>
                <a:spcPts val="1000"/>
              </a:spcAft>
              <a:defRPr sz="1600">
                <a:solidFill>
                  <a:srgbClr val="3C3C3C"/>
                </a:solidFill>
              </a:defRPr>
            </a:pPr>
            <a:r>
              <a:t>▸ Regime used as primary trade filter</a:t>
            </a:r>
          </a:p>
          <a:p>
            <a:pPr>
              <a:spcAft>
                <a:spcPts val="1000"/>
              </a:spcAft>
              <a:defRPr sz="1600">
                <a:solidFill>
                  <a:srgbClr val="3C3C3C"/>
                </a:solidFill>
              </a:defRPr>
            </a:pPr>
            <a:r>
              <a:t>▸ LONG only in Uptrend (+1), SHORT only in Downtrend (-1)</a:t>
            </a:r>
          </a:p>
        </p:txBody>
      </p:sp>
      <p:pic>
        <p:nvPicPr>
          <p:cNvPr id="5" name="Picture 4" descr="04_regime_det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371600"/>
            <a:ext cx="5760720" cy="43205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0" y="2560320"/>
            <a:ext cx="3047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Trading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2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5/15 EMA Crossover + Regime Filter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3C3C3C"/>
                </a:solidFill>
              </a:defRPr>
            </a:pPr>
            <a:r>
              <a:t>▸ LONG Entry: EMA(5) &gt; EMA(15) AND Regime = +1 (Uptrend)</a:t>
            </a:r>
          </a:p>
          <a:p>
            <a:pPr>
              <a:spcAft>
                <a:spcPts val="1400"/>
              </a:spcAft>
              <a:defRPr sz="1800">
                <a:solidFill>
                  <a:srgbClr val="3C3C3C"/>
                </a:solidFill>
              </a:defRPr>
            </a:pPr>
            <a:r>
              <a:t>▸ SHORT Entry: EMA(5) &lt; EMA(15) AND Regime = -1 (Downtrend)</a:t>
            </a:r>
          </a:p>
          <a:p>
            <a:pPr>
              <a:spcAft>
                <a:spcPts val="1400"/>
              </a:spcAft>
              <a:defRPr sz="1800">
                <a:solidFill>
                  <a:srgbClr val="3C3C3C"/>
                </a:solidFill>
              </a:defRPr>
            </a:pPr>
            <a:r>
              <a:t>▸ Exit: Opposite EMA crossover signal</a:t>
            </a:r>
          </a:p>
          <a:p>
            <a:pPr>
              <a:spcAft>
                <a:spcPts val="1400"/>
              </a:spcAft>
              <a:defRPr sz="1800">
                <a:solidFill>
                  <a:srgbClr val="3C3C3C"/>
                </a:solidFill>
              </a:defRPr>
            </a:pPr>
            <a:r>
              <a:t>▸ NO TRADE: When Regime = 0 (Sideways market)</a:t>
            </a:r>
          </a:p>
          <a:p>
            <a:pPr>
              <a:spcAft>
                <a:spcPts val="1400"/>
              </a:spcAft>
              <a:defRPr sz="1800">
                <a:solidFill>
                  <a:srgbClr val="3C3C3C"/>
                </a:solidFill>
              </a:defRPr>
            </a:pPr>
            <a:r>
              <a:t>▸ Entry at next candle OPEN (no lookahead bias)</a:t>
            </a:r>
          </a:p>
          <a:p>
            <a:pPr>
              <a:spcAft>
                <a:spcPts val="1400"/>
              </a:spcAft>
              <a:defRPr sz="1800">
                <a:solidFill>
                  <a:srgbClr val="3C3C3C"/>
                </a:solidFill>
              </a:defRPr>
            </a:pPr>
            <a:r>
              <a:t>▸ Force-close positions on regime change to Sideways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2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Baseline Strategy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C3C3C"/>
                </a:solidFill>
              </a:defRPr>
            </a:pPr>
            <a:r>
              <a:t>▸ Total Trades: 140</a:t>
            </a:r>
          </a:p>
          <a:p>
            <a:pPr>
              <a:spcAft>
                <a:spcPts val="1000"/>
              </a:spcAft>
              <a:defRPr sz="1600">
                <a:solidFill>
                  <a:srgbClr val="3C3C3C"/>
                </a:solidFill>
              </a:defRPr>
            </a:pPr>
            <a:r>
              <a:t>▸ Win Rate: 29.3%</a:t>
            </a:r>
          </a:p>
          <a:p>
            <a:pPr>
              <a:spcAft>
                <a:spcPts val="1000"/>
              </a:spcAft>
              <a:defRPr sz="1600">
                <a:solidFill>
                  <a:srgbClr val="3C3C3C"/>
                </a:solidFill>
              </a:defRPr>
            </a:pPr>
            <a:r>
              <a:t>▸ Total Return: -0.54%</a:t>
            </a:r>
          </a:p>
          <a:p>
            <a:pPr>
              <a:spcAft>
                <a:spcPts val="1000"/>
              </a:spcAft>
              <a:defRPr sz="1600">
                <a:solidFill>
                  <a:srgbClr val="3C3C3C"/>
                </a:solidFill>
              </a:defRPr>
            </a:pPr>
            <a:r>
              <a:t>▸ Sharpe Ratio: -5.72</a:t>
            </a:r>
          </a:p>
          <a:p>
            <a:pPr>
              <a:spcAft>
                <a:spcPts val="1000"/>
              </a:spcAft>
              <a:defRPr sz="1600">
                <a:solidFill>
                  <a:srgbClr val="3C3C3C"/>
                </a:solidFill>
              </a:defRPr>
            </a:pPr>
            <a:r>
              <a:t>▸ Sortino Ratio: -19.45</a:t>
            </a:r>
          </a:p>
          <a:p>
            <a:pPr>
              <a:spcAft>
                <a:spcPts val="1000"/>
              </a:spcAft>
              <a:defRPr sz="1600">
                <a:solidFill>
                  <a:srgbClr val="3C3C3C"/>
                </a:solidFill>
              </a:defRPr>
            </a:pPr>
            <a:r>
              <a:t>▸ Profit Factor: 0.90</a:t>
            </a:r>
          </a:p>
          <a:p>
            <a:pPr>
              <a:spcAft>
                <a:spcPts val="1000"/>
              </a:spcAft>
              <a:defRPr sz="1600">
                <a:solidFill>
                  <a:srgbClr val="3C3C3C"/>
                </a:solidFill>
              </a:defRPr>
            </a:pPr>
            <a:r>
              <a:t>▸ Max Drawdown: 1.21%</a:t>
            </a:r>
          </a:p>
        </p:txBody>
      </p:sp>
      <p:pic>
        <p:nvPicPr>
          <p:cNvPr id="5" name="Picture 4" descr="05_baseline_strate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371600"/>
            <a:ext cx="5760720" cy="3200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0" y="2560320"/>
            <a:ext cx="3047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Machine Learning Enhancement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2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ML Problem Definition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3C3C3C"/>
                </a:solidFill>
              </a:defRPr>
            </a:pPr>
            <a:r>
              <a:t>▸ Binary Classification: Predict if trade will be profitable</a:t>
            </a:r>
          </a:p>
          <a:p>
            <a:pPr>
              <a:spcAft>
                <a:spcPts val="1400"/>
              </a:spcAft>
              <a:defRPr sz="1800">
                <a:solidFill>
                  <a:srgbClr val="3C3C3C"/>
                </a:solidFill>
              </a:defRPr>
            </a:pPr>
            <a:r>
              <a:t>▸ Target: 1 if trade PnL &gt; 0, else 0</a:t>
            </a:r>
          </a:p>
          <a:p>
            <a:pPr>
              <a:spcAft>
                <a:spcPts val="1400"/>
              </a:spcAft>
              <a:defRPr sz="1800">
                <a:solidFill>
                  <a:srgbClr val="3C3C3C"/>
                </a:solidFill>
              </a:defRPr>
            </a:pPr>
            <a:r>
              <a:t>▸ Features: All stationary features at signal point</a:t>
            </a:r>
          </a:p>
          <a:p>
            <a:pPr>
              <a:spcAft>
                <a:spcPts val="1400"/>
              </a:spcAft>
              <a:defRPr sz="1800">
                <a:solidFill>
                  <a:srgbClr val="3C3C3C"/>
                </a:solidFill>
              </a:defRPr>
            </a:pPr>
            <a:r>
              <a:t>▸ Training: First 70% of data with time-series CV</a:t>
            </a:r>
          </a:p>
          <a:p>
            <a:pPr>
              <a:spcAft>
                <a:spcPts val="1400"/>
              </a:spcAft>
              <a:defRPr sz="1800">
                <a:solidFill>
                  <a:srgbClr val="3C3C3C"/>
                </a:solidFill>
              </a:defRPr>
            </a:pPr>
            <a:r>
              <a:t>▸ Trade filter: Only execute when ML confidence ≥ 50%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2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XGBoost Classifier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C3C3C"/>
                </a:solidFill>
              </a:defRPr>
            </a:pPr>
            <a:r>
              <a:t>▸ Gradient Boosting with 100 trees</a:t>
            </a:r>
          </a:p>
          <a:p>
            <a:pPr>
              <a:spcAft>
                <a:spcPts val="1000"/>
              </a:spcAft>
              <a:defRPr sz="1600">
                <a:solidFill>
                  <a:srgbClr val="3C3C3C"/>
                </a:solidFill>
              </a:defRPr>
            </a:pPr>
            <a:r>
              <a:t>▸ Time-Series Cross-Validation (5 folds)</a:t>
            </a:r>
          </a:p>
          <a:p>
            <a:pPr>
              <a:spcAft>
                <a:spcPts val="1000"/>
              </a:spcAft>
              <a:defRPr sz="1600">
                <a:solidFill>
                  <a:srgbClr val="3C3C3C"/>
                </a:solidFill>
              </a:defRPr>
            </a:pPr>
            <a:r>
              <a:t>▸ Mean CV Accuracy: ~62%</a:t>
            </a:r>
          </a:p>
          <a:p>
            <a:pPr>
              <a:spcAft>
                <a:spcPts val="1000"/>
              </a:spcAft>
              <a:defRPr sz="1600">
                <a:solidFill>
                  <a:srgbClr val="3C3C3C"/>
                </a:solidFill>
              </a:defRPr>
            </a:pPr>
            <a:r>
              <a:t>▸ Fast training and inference</a:t>
            </a:r>
          </a:p>
          <a:p>
            <a:pPr>
              <a:spcAft>
                <a:spcPts val="1000"/>
              </a:spcAft>
              <a:defRPr sz="1600">
                <a:solidFill>
                  <a:srgbClr val="3C3C3C"/>
                </a:solidFill>
              </a:defRPr>
            </a:pPr>
            <a:r>
              <a:t>▸ Feature importance analysis reveals top predictors</a:t>
            </a:r>
          </a:p>
        </p:txBody>
      </p:sp>
      <p:pic>
        <p:nvPicPr>
          <p:cNvPr id="5" name="Picture 4" descr="06_xgb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371600"/>
            <a:ext cx="5760720" cy="3840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2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LSTM Neural Network (Improved)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3C3C3C"/>
                </a:solidFill>
              </a:defRPr>
            </a:pPr>
            <a:r>
              <a:t>▸ Two-layer stacked LSTM (64 → 32 units)</a:t>
            </a:r>
          </a:p>
          <a:p>
            <a:pPr>
              <a:spcAft>
                <a:spcPts val="1400"/>
              </a:spcAft>
              <a:defRPr sz="1800">
                <a:solidFill>
                  <a:srgbClr val="3C3C3C"/>
                </a:solidFill>
              </a:defRPr>
            </a:pPr>
            <a:r>
              <a:t>▸ 10-step lookback sequence for temporal patterns</a:t>
            </a:r>
          </a:p>
          <a:p>
            <a:pPr>
              <a:spcAft>
                <a:spcPts val="1400"/>
              </a:spcAft>
              <a:defRPr sz="1800">
                <a:solidFill>
                  <a:srgbClr val="3C3C3C"/>
                </a:solidFill>
              </a:defRPr>
            </a:pPr>
            <a:r>
              <a:t>▸ BatchNormalization + L2 regularization</a:t>
            </a:r>
          </a:p>
          <a:p>
            <a:pPr>
              <a:spcAft>
                <a:spcPts val="1400"/>
              </a:spcAft>
              <a:defRPr sz="1800">
                <a:solidFill>
                  <a:srgbClr val="3C3C3C"/>
                </a:solidFill>
              </a:defRPr>
            </a:pPr>
            <a:r>
              <a:t>▸ EarlyStopping + Learning Rate scheduling</a:t>
            </a:r>
          </a:p>
          <a:p>
            <a:pPr>
              <a:spcAft>
                <a:spcPts val="1400"/>
              </a:spcAft>
              <a:defRPr sz="1800">
                <a:solidFill>
                  <a:srgbClr val="3C3C3C"/>
                </a:solidFill>
              </a:defRPr>
            </a:pPr>
            <a:r>
              <a:t>▸ Correct target alignment: predicts for last row in sequence</a:t>
            </a:r>
          </a:p>
          <a:p>
            <a:pPr>
              <a:spcAft>
                <a:spcPts val="1400"/>
              </a:spcAft>
              <a:defRPr sz="1800">
                <a:solidFill>
                  <a:srgbClr val="3C3C3C"/>
                </a:solidFill>
              </a:defRPr>
            </a:pPr>
            <a:r>
              <a:t>▸ Default 0.5 probability for warmup period (no bias)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2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Model Comparison Results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523847.5" y="1828800"/>
          <a:ext cx="91440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Baseline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XGBoost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LSTM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Total Trades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9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Win Rate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29.3%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22.2%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44.4%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Total Return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-0.54%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-0.50%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+0.18%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Sharpe 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-5.72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-34.4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+30.7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Sortino 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-19.5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-98.6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+97.6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Max Drawdown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1.21%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0.55%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0.15%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Profit Factor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1.85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2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Key Insights from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C3C3C"/>
                </a:solidFill>
              </a:defRPr>
            </a:pPr>
            <a:r>
              <a:t>▸ LSTM achieves highest win rate: 44.4% (+15.2 pp vs baseline)</a:t>
            </a:r>
          </a:p>
          <a:p>
            <a:pPr>
              <a:spcAft>
                <a:spcPts val="1000"/>
              </a:spcAft>
              <a:defRPr sz="1600">
                <a:solidFill>
                  <a:srgbClr val="3C3C3C"/>
                </a:solidFill>
              </a:defRPr>
            </a:pPr>
            <a:r>
              <a:t>▸ LSTM is ONLY profitable model: +0.18% return, 1.85 profit factor</a:t>
            </a:r>
          </a:p>
          <a:p>
            <a:pPr>
              <a:spcAft>
                <a:spcPts val="1000"/>
              </a:spcAft>
              <a:defRPr sz="1600">
                <a:solidFill>
                  <a:srgbClr val="3C3C3C"/>
                </a:solidFill>
              </a:defRPr>
            </a:pPr>
            <a:r>
              <a:t>▸ LSTM has lowest drawdown: 0.15% vs 1.21% baseline</a:t>
            </a:r>
          </a:p>
          <a:p>
            <a:pPr>
              <a:spcAft>
                <a:spcPts val="1000"/>
              </a:spcAft>
              <a:defRPr sz="1600">
                <a:solidFill>
                  <a:srgbClr val="3C3C3C"/>
                </a:solidFill>
              </a:defRPr>
            </a:pPr>
            <a:r>
              <a:t>▸ LSTM Sharpe: +30.7 vs -5.72 baseline (massive improvement)</a:t>
            </a:r>
          </a:p>
          <a:p>
            <a:pPr>
              <a:spcAft>
                <a:spcPts val="1000"/>
              </a:spcAft>
              <a:defRPr sz="1600">
                <a:solidFill>
                  <a:srgbClr val="3C3C3C"/>
                </a:solidFill>
              </a:defRPr>
            </a:pPr>
            <a:r>
              <a:t>▸ Aggressive filtering: 9 trades vs 140 baseline (93% reduction)</a:t>
            </a:r>
          </a:p>
          <a:p>
            <a:pPr>
              <a:spcAft>
                <a:spcPts val="1000"/>
              </a:spcAft>
              <a:defRPr sz="1600">
                <a:solidFill>
                  <a:srgbClr val="3C3C3C"/>
                </a:solidFill>
              </a:defRPr>
            </a:pPr>
            <a:r>
              <a:t>▸ Quality over quantity: Fewer but higher-conviction trades</a:t>
            </a:r>
          </a:p>
        </p:txBody>
      </p:sp>
      <p:pic>
        <p:nvPicPr>
          <p:cNvPr id="5" name="Picture 4" descr="06_m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371600"/>
            <a:ext cx="5760720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0" y="2560320"/>
            <a:ext cx="3047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High-Performance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2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Outlier Trade Characteristics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C3C3C"/>
                </a:solidFill>
              </a:defRPr>
            </a:pPr>
            <a:r>
              <a:t>▸ Identified trades with Z-score &gt; 3 standard deviations</a:t>
            </a:r>
          </a:p>
          <a:p>
            <a:pPr>
              <a:spcAft>
                <a:spcPts val="1000"/>
              </a:spcAft>
              <a:defRPr sz="1600">
                <a:solidFill>
                  <a:srgbClr val="3C3C3C"/>
                </a:solidFill>
              </a:defRPr>
            </a:pPr>
            <a:r>
              <a:t>▸ Strong trending regimes correlate with outlier profits</a:t>
            </a:r>
          </a:p>
          <a:p>
            <a:pPr>
              <a:spcAft>
                <a:spcPts val="1000"/>
              </a:spcAft>
              <a:defRPr sz="1600">
                <a:solidFill>
                  <a:srgbClr val="3C3C3C"/>
                </a:solidFill>
              </a:defRPr>
            </a:pPr>
            <a:r>
              <a:t>▸ Higher IV environments precede larger price moves</a:t>
            </a:r>
          </a:p>
          <a:p>
            <a:pPr>
              <a:spcAft>
                <a:spcPts val="1000"/>
              </a:spcAft>
              <a:defRPr sz="1600">
                <a:solidFill>
                  <a:srgbClr val="3C3C3C"/>
                </a:solidFill>
              </a:defRPr>
            </a:pPr>
            <a:r>
              <a:t>▸ Morning session (9:15-11:00) shows better performance</a:t>
            </a:r>
          </a:p>
          <a:p>
            <a:pPr>
              <a:spcAft>
                <a:spcPts val="1000"/>
              </a:spcAft>
              <a:defRPr sz="1600">
                <a:solidFill>
                  <a:srgbClr val="3C3C3C"/>
                </a:solidFill>
              </a:defRPr>
            </a:pPr>
            <a:r>
              <a:t>▸ PCR extremes often signal profitable opportunities</a:t>
            </a:r>
          </a:p>
          <a:p>
            <a:pPr>
              <a:spcAft>
                <a:spcPts val="1000"/>
              </a:spcAft>
              <a:defRPr sz="1600">
                <a:solidFill>
                  <a:srgbClr val="3C3C3C"/>
                </a:solidFill>
              </a:defRPr>
            </a:pPr>
            <a:r>
              <a:t>▸ Trade duration shows moderate correlation with PnL</a:t>
            </a:r>
          </a:p>
        </p:txBody>
      </p:sp>
      <p:pic>
        <p:nvPicPr>
          <p:cNvPr id="5" name="Picture 4" descr="07_outlier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371600"/>
            <a:ext cx="5760720" cy="36004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0" y="2560320"/>
            <a:ext cx="3047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Conclusions &amp;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2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3C3C3C"/>
                </a:solidFill>
              </a:defRPr>
            </a:pPr>
            <a:r>
              <a:t>▸ Built complete quantitative trading pipeline</a:t>
            </a:r>
          </a:p>
          <a:p>
            <a:pPr>
              <a:spcAft>
                <a:spcPts val="1400"/>
              </a:spcAft>
              <a:defRPr sz="1800">
                <a:solidFill>
                  <a:srgbClr val="3C3C3C"/>
                </a:solidFill>
              </a:defRPr>
            </a:pPr>
            <a:r>
              <a:t>▸ HMM successfully identifies 3 distinct market regimes</a:t>
            </a:r>
          </a:p>
          <a:p>
            <a:pPr>
              <a:spcAft>
                <a:spcPts val="1400"/>
              </a:spcAft>
              <a:defRPr sz="1800">
                <a:solidFill>
                  <a:srgbClr val="3C3C3C"/>
                </a:solidFill>
              </a:defRPr>
            </a:pPr>
            <a:r>
              <a:t>▸ LSTM improves win rate by 15+ percentage points</a:t>
            </a:r>
          </a:p>
          <a:p>
            <a:pPr>
              <a:spcAft>
                <a:spcPts val="1400"/>
              </a:spcAft>
              <a:defRPr sz="1800">
                <a:solidFill>
                  <a:srgbClr val="3C3C3C"/>
                </a:solidFill>
              </a:defRPr>
            </a:pPr>
            <a:r>
              <a:t>▸ LSTM is the only profitable model configuration</a:t>
            </a:r>
          </a:p>
          <a:p>
            <a:pPr>
              <a:spcAft>
                <a:spcPts val="1400"/>
              </a:spcAft>
              <a:defRPr sz="1800">
                <a:solidFill>
                  <a:srgbClr val="3C3C3C"/>
                </a:solidFill>
              </a:defRPr>
            </a:pPr>
            <a:r>
              <a:t>▸ Risk metrics (Sharpe, Sortino, Drawdown) vastly improved</a:t>
            </a:r>
          </a:p>
          <a:p>
            <a:pPr>
              <a:spcAft>
                <a:spcPts val="1400"/>
              </a:spcAft>
              <a:defRPr sz="1800">
                <a:solidFill>
                  <a:srgbClr val="3C3C3C"/>
                </a:solidFill>
              </a:defRPr>
            </a:pPr>
            <a:r>
              <a:t>▸ Modular codebase ready for production extension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2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Recommendations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3C3C3C"/>
                </a:solidFill>
              </a:defRPr>
            </a:pPr>
            <a:r>
              <a:t>▸ Deploy LSTM filter for live paper trading</a:t>
            </a:r>
          </a:p>
          <a:p>
            <a:pPr>
              <a:spcAft>
                <a:spcPts val="1400"/>
              </a:spcAft>
              <a:defRPr sz="1800">
                <a:solidFill>
                  <a:srgbClr val="3C3C3C"/>
                </a:solidFill>
              </a:defRPr>
            </a:pPr>
            <a:r>
              <a:t>▸ Consider ensemble: XGBoost + LSTM voting</a:t>
            </a:r>
          </a:p>
          <a:p>
            <a:pPr>
              <a:spcAft>
                <a:spcPts val="1400"/>
              </a:spcAft>
              <a:defRPr sz="1800">
                <a:solidFill>
                  <a:srgbClr val="3C3C3C"/>
                </a:solidFill>
              </a:defRPr>
            </a:pPr>
            <a:r>
              <a:t>▸ Add position sizing based on ML confidence</a:t>
            </a:r>
          </a:p>
          <a:p>
            <a:pPr>
              <a:spcAft>
                <a:spcPts val="1400"/>
              </a:spcAft>
              <a:defRPr sz="1800">
                <a:solidFill>
                  <a:srgbClr val="3C3C3C"/>
                </a:solidFill>
              </a:defRPr>
            </a:pPr>
            <a:r>
              <a:t>▸ Implement stop-loss and take-profit levels</a:t>
            </a:r>
          </a:p>
          <a:p>
            <a:pPr>
              <a:spcAft>
                <a:spcPts val="1400"/>
              </a:spcAft>
              <a:defRPr sz="1800">
                <a:solidFill>
                  <a:srgbClr val="3C3C3C"/>
                </a:solidFill>
              </a:defRPr>
            </a:pPr>
            <a:r>
              <a:t>▸ Extend to Bank Nifty and sector indices</a:t>
            </a:r>
          </a:p>
          <a:p>
            <a:pPr>
              <a:spcAft>
                <a:spcPts val="1400"/>
              </a:spcAft>
              <a:defRPr sz="1800">
                <a:solidFill>
                  <a:srgbClr val="3C3C3C"/>
                </a:solidFill>
              </a:defRPr>
            </a:pPr>
            <a:r>
              <a:t>▸ Integrate with broker API (Zerodha, ICICI) for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007ACC"/>
                </a:solidFill>
              </a:defRPr>
            </a:pPr>
            <a: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C8C8C8"/>
                </a:solidFill>
              </a:defRPr>
            </a:pPr>
            <a:r>
              <a:t>Kartik Mendiratta | January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