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NIFTY Algorithmic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Sequential Filtering Architecture with HMM Regime Detection &amp; ML Trade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Built a quantitative trading system for NIFTY 50 derivatives</a:t>
            </a:r>
          </a:p>
          <a:p>
            <a:pPr>
              <a:spcAft>
                <a:spcPts val="1200"/>
              </a:spcAft>
              <a:defRPr sz="1800"/>
            </a:pPr>
            <a:r>
              <a:t>• Sequential Filtering Architecture: Data → Features → Regime → Signal → ML → Execution</a:t>
            </a:r>
          </a:p>
          <a:p>
            <a:pPr>
              <a:spcAft>
                <a:spcPts val="1200"/>
              </a:spcAft>
              <a:defRPr sz="1800"/>
            </a:pPr>
            <a:r>
              <a:t>• Uses Hidden Markov Model (HMM) for market regime detection</a:t>
            </a:r>
          </a:p>
          <a:p>
            <a:pPr>
              <a:spcAft>
                <a:spcPts val="1200"/>
              </a:spcAft>
              <a:defRPr sz="1800"/>
            </a:pPr>
            <a:r>
              <a:t>• Machine Learning filters (XGBoost, LSTM) to validate trade signals</a:t>
            </a:r>
          </a:p>
          <a:p>
            <a:pPr>
              <a:spcAft>
                <a:spcPts val="1200"/>
              </a:spcAft>
              <a:defRPr sz="1800"/>
            </a:pPr>
            <a:r>
              <a:t>• Backtested on 5-minute NIFTY data with comprehensive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Baseline Strategy: 147 trades, 25.85% win rate</a:t>
            </a:r>
          </a:p>
          <a:p>
            <a:pPr>
              <a:spcAft>
                <a:spcPts val="1200"/>
              </a:spcAft>
              <a:defRPr sz="1800"/>
            </a:pPr>
            <a:r>
              <a:t>• XGBoost Filtered: 40 trades, 35.00% win rate (+9.15 pp)</a:t>
            </a:r>
          </a:p>
          <a:p>
            <a:pPr>
              <a:spcAft>
                <a:spcPts val="1200"/>
              </a:spcAft>
              <a:defRPr sz="1800"/>
            </a:pPr>
            <a:r>
              <a:t>• LSTM Filtered: 28 trades, 39.29% win rate (+13.44 pp)</a:t>
            </a:r>
          </a:p>
          <a:p>
            <a:pPr>
              <a:spcAft>
                <a:spcPts val="1200"/>
              </a:spcAft>
              <a:defRPr sz="1800"/>
            </a:pPr>
            <a:r>
              <a:t>• ML filtering reduces trade count by 70-80%</a:t>
            </a:r>
          </a:p>
          <a:p>
            <a:pPr>
              <a:spcAft>
                <a:spcPts val="1200"/>
              </a:spcAft>
              <a:defRPr sz="1800"/>
            </a:pPr>
            <a:r>
              <a:t>• Significant improvement in risk-adjusted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NIFTY 50 Spot Index (5-minute intervals)</a:t>
            </a:r>
          </a:p>
          <a:p>
            <a:pPr>
              <a:spcAft>
                <a:spcPts val="1200"/>
              </a:spcAft>
              <a:defRPr sz="1800"/>
            </a:pPr>
            <a:r>
              <a:t>• NIFTY Futures (Current Month contract)</a:t>
            </a:r>
          </a:p>
          <a:p>
            <a:pPr>
              <a:spcAft>
                <a:spcPts val="1200"/>
              </a:spcAft>
              <a:defRPr sz="1800"/>
            </a:pPr>
            <a:r>
              <a:t>• NIFTY Options (ATM ± 2 strikes)</a:t>
            </a:r>
          </a:p>
          <a:p>
            <a:pPr>
              <a:spcAft>
                <a:spcPts val="1200"/>
              </a:spcAft>
              <a:defRPr sz="1800"/>
            </a:pPr>
            <a:r>
              <a:t>• Time period: Multiple months of intraday data</a:t>
            </a:r>
          </a:p>
          <a:p>
            <a:pPr>
              <a:spcAft>
                <a:spcPts val="1200"/>
              </a:spcAft>
              <a:defRPr sz="1800"/>
            </a:pPr>
            <a:r>
              <a:t>• Total records: ~19,500 rows × 71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Handled futures contract rollovers (stitching)</a:t>
            </a:r>
          </a:p>
          <a:p>
            <a:pPr>
              <a:spcAft>
                <a:spcPts val="800"/>
              </a:spcAft>
              <a:defRPr sz="1600"/>
            </a:pPr>
            <a:r>
              <a:t>• Calculated dynamic ATM strike based on spot price</a:t>
            </a:r>
          </a:p>
          <a:p>
            <a:pPr>
              <a:spcAft>
                <a:spcPts val="800"/>
              </a:spcAft>
              <a:defRPr sz="1600"/>
            </a:pPr>
            <a:r>
              <a:t>• Aligned all timestamps to 5-minute intervals</a:t>
            </a:r>
          </a:p>
          <a:p>
            <a:pPr>
              <a:spcAft>
                <a:spcPts val="800"/>
              </a:spcAft>
              <a:defRPr sz="1600"/>
            </a:pPr>
            <a:r>
              <a:t>• Forward-filled missing values</a:t>
            </a:r>
          </a:p>
          <a:p>
            <a:pPr>
              <a:spcAft>
                <a:spcPts val="800"/>
              </a:spcAft>
              <a:defRPr sz="1600"/>
            </a:pPr>
            <a:r>
              <a:t>• Merged Spot, Futures, and Options into single dataset</a:t>
            </a:r>
          </a:p>
        </p:txBody>
      </p:sp>
      <p:pic>
        <p:nvPicPr>
          <p:cNvPr id="4" name="Picture 3" descr="02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EMA (5-period) - Fast moving average</a:t>
            </a:r>
          </a:p>
          <a:p>
            <a:pPr>
              <a:spcAft>
                <a:spcPts val="1200"/>
              </a:spcAft>
              <a:defRPr sz="1800"/>
            </a:pPr>
            <a:r>
              <a:t>• EMA (15-period) - Slow moving average</a:t>
            </a:r>
          </a:p>
          <a:p>
            <a:pPr>
              <a:spcAft>
                <a:spcPts val="1200"/>
              </a:spcAft>
              <a:defRPr sz="1800"/>
            </a:pPr>
            <a:r>
              <a:t>• EMA Crossover signals for entry/exit</a:t>
            </a:r>
          </a:p>
          <a:p>
            <a:pPr>
              <a:spcAft>
                <a:spcPts val="1200"/>
              </a:spcAft>
              <a:defRPr sz="1800"/>
            </a:pPr>
            <a:r>
              <a:t>• ATR (14-period) for volatility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Options Greeks (Black-Scholes)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Delta - Price sensitivity to underlying</a:t>
            </a:r>
          </a:p>
          <a:p>
            <a:pPr>
              <a:spcAft>
                <a:spcPts val="1200"/>
              </a:spcAft>
              <a:defRPr sz="1800"/>
            </a:pPr>
            <a:r>
              <a:t>• Gamma - Rate of change of Delta</a:t>
            </a:r>
          </a:p>
          <a:p>
            <a:pPr>
              <a:spcAft>
                <a:spcPts val="1200"/>
              </a:spcAft>
              <a:defRPr sz="1800"/>
            </a:pPr>
            <a:r>
              <a:t>• Theta - Time decay</a:t>
            </a:r>
          </a:p>
          <a:p>
            <a:pPr>
              <a:spcAft>
                <a:spcPts val="1200"/>
              </a:spcAft>
              <a:defRPr sz="1800"/>
            </a:pPr>
            <a:r>
              <a:t>• Vega - Volatility sensitivity</a:t>
            </a:r>
          </a:p>
          <a:p>
            <a:pPr>
              <a:spcAft>
                <a:spcPts val="1200"/>
              </a:spcAft>
              <a:defRPr sz="1800"/>
            </a:pPr>
            <a:r>
              <a:t>• Rho - Interest rate sensitivity</a:t>
            </a:r>
          </a:p>
          <a:p>
            <a:pPr>
              <a:spcAft>
                <a:spcPts val="1200"/>
              </a:spcAft>
              <a:defRPr sz="1800"/>
            </a:pPr>
            <a:r>
              <a:t>• Calculated using mibian library (r = 6.5%)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Derived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Average IV = (Call IV + Put IV) / 2</a:t>
            </a:r>
          </a:p>
          <a:p>
            <a:pPr>
              <a:spcAft>
                <a:spcPts val="800"/>
              </a:spcAft>
              <a:defRPr sz="1600"/>
            </a:pPr>
            <a:r>
              <a:t>• IV Spread = Call IV - Put IV</a:t>
            </a:r>
          </a:p>
          <a:p>
            <a:pPr>
              <a:spcAft>
                <a:spcPts val="800"/>
              </a:spcAft>
              <a:defRPr sz="1600"/>
            </a:pPr>
            <a:r>
              <a:t>• PCR (OI-based) = Put OI / Call OI</a:t>
            </a:r>
          </a:p>
          <a:p>
            <a:pPr>
              <a:spcAft>
                <a:spcPts val="800"/>
              </a:spcAft>
              <a:defRPr sz="1600"/>
            </a:pPr>
            <a:r>
              <a:t>• Futures Basis = (Futures - Spot) / Spot</a:t>
            </a:r>
          </a:p>
          <a:p>
            <a:pPr>
              <a:spcAft>
                <a:spcPts val="800"/>
              </a:spcAft>
              <a:defRPr sz="1600"/>
            </a:pPr>
            <a:r>
              <a:t>• Gamma Exposure = Spot × Gamma × OI</a:t>
            </a:r>
          </a:p>
        </p:txBody>
      </p:sp>
      <p:pic>
        <p:nvPicPr>
          <p:cNvPr id="4" name="Picture 3" descr="03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40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Regime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Hidden Markov Model (HMM)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3-State Model: Uptrend (+1), Sideways (0), Downtrend (-1)</a:t>
            </a:r>
          </a:p>
          <a:p>
            <a:pPr>
              <a:spcAft>
                <a:spcPts val="1200"/>
              </a:spcAft>
              <a:defRPr sz="1800"/>
            </a:pPr>
            <a:r>
              <a:t>• Library: hmmlearn with GaussianHMM</a:t>
            </a:r>
          </a:p>
          <a:p>
            <a:pPr>
              <a:spcAft>
                <a:spcPts val="1200"/>
              </a:spcAft>
              <a:defRPr sz="1800"/>
            </a:pPr>
            <a:r>
              <a:t>• Trained on first 70% of data</a:t>
            </a:r>
          </a:p>
          <a:p>
            <a:pPr>
              <a:spcAft>
                <a:spcPts val="1200"/>
              </a:spcAft>
              <a:defRPr sz="1800"/>
            </a:pPr>
            <a:r>
              <a:t>• Uses options-based features only for regime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HMM 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Average IV - Implied volatility level</a:t>
            </a:r>
          </a:p>
          <a:p>
            <a:pPr>
              <a:spcAft>
                <a:spcPts val="1200"/>
              </a:spcAft>
              <a:defRPr sz="1800"/>
            </a:pPr>
            <a:r>
              <a:t>• IV Spread - Call vs Put IV difference</a:t>
            </a:r>
          </a:p>
          <a:p>
            <a:pPr>
              <a:spcAft>
                <a:spcPts val="1200"/>
              </a:spcAft>
              <a:defRPr sz="1800"/>
            </a:pPr>
            <a:r>
              <a:t>• PCR (OI-based) - Put/Call sentiment</a:t>
            </a:r>
          </a:p>
          <a:p>
            <a:pPr>
              <a:spcAft>
                <a:spcPts val="1200"/>
              </a:spcAft>
              <a:defRPr sz="1800"/>
            </a:pPr>
            <a:r>
              <a:t>• ATM Delta, Gamma, Vega - Greeks</a:t>
            </a:r>
          </a:p>
          <a:p>
            <a:pPr>
              <a:spcAft>
                <a:spcPts val="1200"/>
              </a:spcAft>
              <a:defRPr sz="1800"/>
            </a:pPr>
            <a:r>
              <a:t>• Futures Basis - Futures premium/discount</a:t>
            </a:r>
          </a:p>
          <a:p>
            <a:pPr>
              <a:spcAft>
                <a:spcPts val="1200"/>
              </a:spcAft>
              <a:defRPr sz="1800"/>
            </a:pPr>
            <a:r>
              <a:t>• Spot Returns - Price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Regime Detection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Downtrend (-1): ~59% of candles</a:t>
            </a:r>
          </a:p>
          <a:p>
            <a:pPr>
              <a:spcAft>
                <a:spcPts val="800"/>
              </a:spcAft>
              <a:defRPr sz="1600"/>
            </a:pPr>
            <a:r>
              <a:t>• Sideways (0): ~19% of candles</a:t>
            </a:r>
          </a:p>
          <a:p>
            <a:pPr>
              <a:spcAft>
                <a:spcPts val="800"/>
              </a:spcAft>
              <a:defRPr sz="1600"/>
            </a:pPr>
            <a:r>
              <a:t>• Uptrend (+1): ~22% of candles</a:t>
            </a:r>
          </a:p>
          <a:p>
            <a:pPr>
              <a:spcAft>
                <a:spcPts val="800"/>
              </a:spcAft>
              <a:defRPr sz="1600"/>
            </a:pPr>
            <a:r>
              <a:t>• High regime persistence (&gt;99% self-transition probability)</a:t>
            </a:r>
          </a:p>
          <a:p>
            <a:pPr>
              <a:spcAft>
                <a:spcPts val="800"/>
              </a:spcAft>
              <a:defRPr sz="1600"/>
            </a:pPr>
            <a:r>
              <a:t>• Clear separation of market conditions</a:t>
            </a:r>
          </a:p>
        </p:txBody>
      </p:sp>
      <p:pic>
        <p:nvPicPr>
          <p:cNvPr id="4" name="Picture 3" descr="04_regim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320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Baseline Strategy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EMA Crossover + Regime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LONG: EMA(5) crosses above EMA(15) AND Regime = +1</a:t>
            </a:r>
          </a:p>
          <a:p>
            <a:pPr>
              <a:spcAft>
                <a:spcPts val="1200"/>
              </a:spcAft>
              <a:defRPr sz="1800"/>
            </a:pPr>
            <a:r>
              <a:t>• SHORT: EMA(5) crosses below EMA(15) AND Regime = -1</a:t>
            </a:r>
          </a:p>
          <a:p>
            <a:pPr>
              <a:spcAft>
                <a:spcPts val="1200"/>
              </a:spcAft>
              <a:defRPr sz="1800"/>
            </a:pPr>
            <a:r>
              <a:t>• NO TRADE: When Regime = 0 (Sideways market)</a:t>
            </a:r>
          </a:p>
          <a:p>
            <a:pPr>
              <a:spcAft>
                <a:spcPts val="1200"/>
              </a:spcAft>
              <a:defRPr sz="1800"/>
            </a:pPr>
            <a:r>
              <a:t>• Entry at next candle open after signal</a:t>
            </a:r>
          </a:p>
          <a:p>
            <a:pPr>
              <a:spcAft>
                <a:spcPts val="1200"/>
              </a:spcAft>
              <a:defRPr sz="1800"/>
            </a:pPr>
            <a:r>
              <a:t>• Exit on opposite crossover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Baseline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Total Trades: 147</a:t>
            </a:r>
          </a:p>
          <a:p>
            <a:pPr>
              <a:spcAft>
                <a:spcPts val="800"/>
              </a:spcAft>
              <a:defRPr sz="1600"/>
            </a:pPr>
            <a:r>
              <a:t>• Win Rate: 25.85%</a:t>
            </a:r>
          </a:p>
          <a:p>
            <a:pPr>
              <a:spcAft>
                <a:spcPts val="800"/>
              </a:spcAft>
              <a:defRPr sz="1600"/>
            </a:pPr>
            <a:r>
              <a:t>• Total Return: -1.55%</a:t>
            </a:r>
          </a:p>
          <a:p>
            <a:pPr>
              <a:spcAft>
                <a:spcPts val="800"/>
              </a:spcAft>
              <a:defRPr sz="1600"/>
            </a:pPr>
            <a:r>
              <a:t>• Sharpe Ratio: -14.79</a:t>
            </a:r>
          </a:p>
          <a:p>
            <a:pPr>
              <a:spcAft>
                <a:spcPts val="800"/>
              </a:spcAft>
              <a:defRPr sz="1600"/>
            </a:pPr>
            <a:r>
              <a:t>• Max Drawdown: 2.04%</a:t>
            </a:r>
          </a:p>
          <a:p>
            <a:pPr>
              <a:spcAft>
                <a:spcPts val="800"/>
              </a:spcAft>
              <a:defRPr sz="1600"/>
            </a:pPr>
            <a:r>
              <a:t>• Profit Factor: 0.74</a:t>
            </a:r>
          </a:p>
        </p:txBody>
      </p:sp>
      <p:pic>
        <p:nvPicPr>
          <p:cNvPr id="4" name="Picture 3" descr="05_baseline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Force-Close on Regime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Added safety feature: Force-close when Regime → 0</a:t>
            </a:r>
          </a:p>
          <a:p>
            <a:pPr>
              <a:spcAft>
                <a:spcPts val="1200"/>
              </a:spcAft>
              <a:defRPr sz="1800"/>
            </a:pPr>
            <a:r>
              <a:t>• Prevents holding positions in uncertain markets</a:t>
            </a:r>
          </a:p>
          <a:p>
            <a:pPr>
              <a:spcAft>
                <a:spcPts val="1200"/>
              </a:spcAft>
              <a:defRPr sz="1800"/>
            </a:pPr>
            <a:r>
              <a:t>• Reduces exposure during sideways conditions</a:t>
            </a:r>
          </a:p>
          <a:p>
            <a:pPr>
              <a:spcAft>
                <a:spcPts val="1200"/>
              </a:spcAft>
              <a:defRPr sz="1800"/>
            </a:pPr>
            <a:r>
              <a:t>• Improves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ML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ML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Binary Classification: Predict if trade will be profitable</a:t>
            </a:r>
          </a:p>
          <a:p>
            <a:pPr>
              <a:spcAft>
                <a:spcPts val="1200"/>
              </a:spcAft>
              <a:defRPr sz="1800"/>
            </a:pPr>
            <a:r>
              <a:t>• Target: 1 if trade PnL &gt; 0, else 0</a:t>
            </a:r>
          </a:p>
          <a:p>
            <a:pPr>
              <a:spcAft>
                <a:spcPts val="1200"/>
              </a:spcAft>
              <a:defRPr sz="1800"/>
            </a:pPr>
            <a:r>
              <a:t>• Features: All engineered features at signal point</a:t>
            </a:r>
          </a:p>
          <a:p>
            <a:pPr>
              <a:spcAft>
                <a:spcPts val="1200"/>
              </a:spcAft>
              <a:defRPr sz="1800"/>
            </a:pPr>
            <a:r>
              <a:t>• Training: First 70% of data with cross-validation</a:t>
            </a:r>
          </a:p>
          <a:p>
            <a:pPr>
              <a:spcAft>
                <a:spcPts val="1200"/>
              </a:spcAft>
              <a:defRPr sz="1800"/>
            </a:pPr>
            <a:r>
              <a:t>• Inference: Only take trades when ML confidence &gt;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A: XGBoost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Gradient Boosting Decision Trees</a:t>
            </a:r>
          </a:p>
          <a:p>
            <a:pPr>
              <a:spcAft>
                <a:spcPts val="800"/>
              </a:spcAft>
              <a:defRPr sz="1600"/>
            </a:pPr>
            <a:r>
              <a:t>• Time-Series Cross-Validation (5 folds)</a:t>
            </a:r>
          </a:p>
          <a:p>
            <a:pPr>
              <a:spcAft>
                <a:spcPts val="800"/>
              </a:spcAft>
              <a:defRPr sz="1600"/>
            </a:pPr>
            <a:r>
              <a:t>• CV Accuracy: ~65%</a:t>
            </a:r>
          </a:p>
          <a:p>
            <a:pPr>
              <a:spcAft>
                <a:spcPts val="800"/>
              </a:spcAft>
              <a:defRPr sz="1600"/>
            </a:pPr>
            <a:r>
              <a:t>• Fast training and inference</a:t>
            </a:r>
          </a:p>
          <a:p>
            <a:pPr>
              <a:spcAft>
                <a:spcPts val="800"/>
              </a:spcAft>
              <a:defRPr sz="1600"/>
            </a:pPr>
            <a:r>
              <a:t>• Feature importance analysis available</a:t>
            </a:r>
          </a:p>
        </p:txBody>
      </p:sp>
      <p:pic>
        <p:nvPicPr>
          <p:cNvPr id="4" name="Picture 3" descr="06_xgb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B: LSTM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Sequence model using last 10 candles</a:t>
            </a:r>
          </a:p>
          <a:p>
            <a:pPr>
              <a:spcAft>
                <a:spcPts val="1200"/>
              </a:spcAft>
              <a:defRPr sz="1800"/>
            </a:pPr>
            <a:r>
              <a:t>• Architecture: LSTM → Dropout → Dense → Sigmoid</a:t>
            </a:r>
          </a:p>
          <a:p>
            <a:pPr>
              <a:spcAft>
                <a:spcPts val="1200"/>
              </a:spcAft>
              <a:defRPr sz="1800"/>
            </a:pPr>
            <a:r>
              <a:t>• Captures temporal patterns in features</a:t>
            </a:r>
          </a:p>
          <a:p>
            <a:pPr>
              <a:spcAft>
                <a:spcPts val="1200"/>
              </a:spcAft>
              <a:defRPr sz="1800"/>
            </a:pPr>
            <a:r>
              <a:t>• Pre-calculated batch predictions for efficiency</a:t>
            </a:r>
          </a:p>
          <a:p>
            <a:pPr>
              <a:spcAft>
                <a:spcPts val="1200"/>
              </a:spcAft>
              <a:defRPr sz="1800"/>
            </a:pPr>
            <a:r>
              <a:t>• Provides strongest filtering (81% trades rejected)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XGBoost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True Negatives: 305 (Loss correctly predicted)</a:t>
            </a:r>
          </a:p>
          <a:p>
            <a:pPr>
              <a:spcAft>
                <a:spcPts val="800"/>
              </a:spcAft>
              <a:defRPr sz="1600"/>
            </a:pPr>
            <a:r>
              <a:t>• True Positives: 126 (Profit correctly predicted)</a:t>
            </a:r>
          </a:p>
          <a:p>
            <a:pPr>
              <a:spcAft>
                <a:spcPts val="800"/>
              </a:spcAft>
              <a:defRPr sz="1600"/>
            </a:pPr>
            <a:r>
              <a:t>• Training Accuracy: 100%</a:t>
            </a:r>
          </a:p>
          <a:p>
            <a:pPr>
              <a:spcAft>
                <a:spcPts val="800"/>
              </a:spcAft>
              <a:defRPr sz="1600"/>
            </a:pPr>
            <a:r>
              <a:t>• Model learns to distinguish profitable patterns</a:t>
            </a:r>
          </a:p>
        </p:txBody>
      </p:sp>
      <p:pic>
        <p:nvPicPr>
          <p:cNvPr id="4" name="Picture 3" descr="06_xgb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320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ML Enhancement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Baseline: 147 trades, 25.85% win rate</a:t>
            </a:r>
          </a:p>
          <a:p>
            <a:pPr>
              <a:spcAft>
                <a:spcPts val="800"/>
              </a:spcAft>
              <a:defRPr sz="1600"/>
            </a:pPr>
            <a:r>
              <a:t>• XGBoost: 40 trades, 35.00% win rate (+9.15 pp)</a:t>
            </a:r>
          </a:p>
          <a:p>
            <a:pPr>
              <a:spcAft>
                <a:spcPts val="800"/>
              </a:spcAft>
              <a:defRPr sz="1600"/>
            </a:pPr>
            <a:r>
              <a:t>• LSTM: 28 trades, 39.29% win rate (+13.44 pp)</a:t>
            </a:r>
          </a:p>
          <a:p>
            <a:pPr>
              <a:spcAft>
                <a:spcPts val="800"/>
              </a:spcAft>
              <a:defRPr sz="1600"/>
            </a:pPr>
            <a:r>
              <a:t>• Both models significantly reduce false signals</a:t>
            </a:r>
          </a:p>
          <a:p>
            <a:pPr>
              <a:spcAft>
                <a:spcPts val="800"/>
              </a:spcAft>
              <a:defRPr sz="1600"/>
            </a:pPr>
            <a:r>
              <a:t>• Trade quality improved at cost of quantity</a:t>
            </a:r>
          </a:p>
        </p:txBody>
      </p:sp>
      <p:pic>
        <p:nvPicPr>
          <p:cNvPr id="4" name="Picture 3" descr="06_m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High-Performance Trade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Outlier Detection (Z-score &gt;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Identified profitable trades beyond 3 standard deviations</a:t>
            </a:r>
          </a:p>
          <a:p>
            <a:pPr>
              <a:spcAft>
                <a:spcPts val="1200"/>
              </a:spcAft>
              <a:defRPr sz="1800"/>
            </a:pPr>
            <a:r>
              <a:t>• Analyzed: regime, IV, ATR, time of day, Greeks, duration</a:t>
            </a:r>
          </a:p>
          <a:p>
            <a:pPr>
              <a:spcAft>
                <a:spcPts val="1200"/>
              </a:spcAft>
              <a:defRPr sz="1800"/>
            </a:pPr>
            <a:r>
              <a:t>• Statistical tests comparing outliers vs normal trades</a:t>
            </a:r>
          </a:p>
          <a:p>
            <a:pPr>
              <a:spcAft>
                <a:spcPts val="1200"/>
              </a:spcAft>
              <a:defRPr sz="1800"/>
            </a:pPr>
            <a:r>
              <a:t>• Found distinguishing patterns in high-performance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Outlier trades tend to occur in strong trending regimes</a:t>
            </a:r>
          </a:p>
          <a:p>
            <a:pPr>
              <a:spcAft>
                <a:spcPts val="800"/>
              </a:spcAft>
              <a:defRPr sz="1600"/>
            </a:pPr>
            <a:r>
              <a:t>• Higher IV environments correlate with larger moves</a:t>
            </a:r>
          </a:p>
          <a:p>
            <a:pPr>
              <a:spcAft>
                <a:spcPts val="800"/>
              </a:spcAft>
              <a:defRPr sz="1600"/>
            </a:pPr>
            <a:r>
              <a:t>• Duration shows moderate correlation with PnL</a:t>
            </a:r>
          </a:p>
          <a:p>
            <a:pPr>
              <a:spcAft>
                <a:spcPts val="800"/>
              </a:spcAft>
              <a:defRPr sz="1600"/>
            </a:pPr>
            <a:r>
              <a:t>• Morning hours (9:15-11:00) show better performance</a:t>
            </a:r>
          </a:p>
          <a:p>
            <a:pPr>
              <a:spcAft>
                <a:spcPts val="800"/>
              </a:spcAft>
              <a:defRPr sz="1600"/>
            </a:pPr>
            <a:r>
              <a:t>• PCR extremes often precede profitable trades</a:t>
            </a:r>
          </a:p>
        </p:txBody>
      </p:sp>
      <p:pic>
        <p:nvPicPr>
          <p:cNvPr id="4" name="Picture 3" descr="07_outli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Successfully implemented Sequential Filtering Architecture</a:t>
            </a:r>
          </a:p>
          <a:p>
            <a:pPr>
              <a:spcAft>
                <a:spcPts val="1200"/>
              </a:spcAft>
              <a:defRPr sz="1800"/>
            </a:pPr>
            <a:r>
              <a:t>• HMM regime detection with 3 market states</a:t>
            </a:r>
          </a:p>
          <a:p>
            <a:pPr>
              <a:spcAft>
                <a:spcPts val="1200"/>
              </a:spcAft>
              <a:defRPr sz="1800"/>
            </a:pPr>
            <a:r>
              <a:t>• ML validation improves win rate by 9-13 percentage points</a:t>
            </a:r>
          </a:p>
          <a:p>
            <a:pPr>
              <a:spcAft>
                <a:spcPts val="1200"/>
              </a:spcAft>
              <a:defRPr sz="1800"/>
            </a:pPr>
            <a:r>
              <a:t>• Comprehensive backtesting framework with all metrics</a:t>
            </a:r>
          </a:p>
          <a:p>
            <a:pPr>
              <a:spcAft>
                <a:spcPts val="1200"/>
              </a:spcAft>
              <a:defRPr sz="1800"/>
            </a:pPr>
            <a:r>
              <a:t>• Modular codebase for easy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Use LSTM filter for highest conviction trades only</a:t>
            </a:r>
          </a:p>
          <a:p>
            <a:pPr>
              <a:spcAft>
                <a:spcPts val="1200"/>
              </a:spcAft>
              <a:defRPr sz="1800"/>
            </a:pPr>
            <a:r>
              <a:t>• Combine XGBoost + LSTM for ensemble approach</a:t>
            </a:r>
          </a:p>
          <a:p>
            <a:pPr>
              <a:spcAft>
                <a:spcPts val="1200"/>
              </a:spcAft>
              <a:defRPr sz="1800"/>
            </a:pPr>
            <a:r>
              <a:t>• Add position sizing based on ML confidence</a:t>
            </a:r>
          </a:p>
          <a:p>
            <a:pPr>
              <a:spcAft>
                <a:spcPts val="1200"/>
              </a:spcAft>
              <a:defRPr sz="1800"/>
            </a:pPr>
            <a:r>
              <a:t>• Consider adding stop-loss and take-profit levels</a:t>
            </a:r>
          </a:p>
          <a:p>
            <a:pPr>
              <a:spcAft>
                <a:spcPts val="1200"/>
              </a:spcAft>
              <a:defRPr sz="1800"/>
            </a:pPr>
            <a:r>
              <a:t>• Paper trade before live deployment</a:t>
            </a:r>
          </a:p>
          <a:p>
            <a:pPr>
              <a:spcAft>
                <a:spcPts val="1200"/>
              </a:spcAft>
              <a:defRPr sz="1800"/>
            </a:pPr>
            <a:r>
              <a:t>• Monitor regime transitions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